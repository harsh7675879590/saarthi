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</a:defRPr>
            </a:pPr>
            <a:r>
              <a:t>SAARTHI AI</a:t>
            </a:r>
          </a:p>
          <a:p>
            <a:pPr algn="l">
              <a:defRPr sz="2400">
                <a:solidFill>
                  <a:srgbClr val="22D3EE"/>
                </a:solidFill>
              </a:defRPr>
            </a:pPr>
            <a:r>
              <a:t>Agentic MSME Loan Underwriting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CBD5E1"/>
                </a:solidFill>
              </a:defRPr>
            </a:pPr>
            <a:r>
              <a:t>Presented by: Harshit Gupta (Admin &amp; Developer)</a:t>
            </a:r>
            <a:br/>
            <a:r>
              <a:t>Built with Google ADK Architecture Concept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B1D3A"/>
                </a:solidFill>
              </a:defRPr>
            </a:pPr>
            <a:r>
              <a:t>The Problem: MSME Credit Bottleneck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600">
                <a:solidFill>
                  <a:srgbClr val="2563EB"/>
                </a:solidFill>
              </a:defRPr>
            </a:pPr>
            <a:r>
              <a:t>•  Slow Processing Latency: </a:t>
            </a:r>
            <a:r>
              <a:rPr b="0" sz="1400">
                <a:solidFill>
                  <a:srgbClr val="475569"/>
                </a:solidFill>
              </a:rPr>
              <a:t>MSME loan underwriting typically takes 3 to 7 days due to manual retrieval, checking, and auditing of physical/digital files.</a:t>
            </a:r>
          </a:p>
          <a:p>
            <a:pPr>
              <a:spcAft>
                <a:spcPts val="1000"/>
              </a:spcAft>
              <a:defRPr b="1" sz="1600">
                <a:solidFill>
                  <a:srgbClr val="2563EB"/>
                </a:solidFill>
              </a:defRPr>
            </a:pPr>
            <a:r>
              <a:t>•  Document Complexity: </a:t>
            </a:r>
            <a:r>
              <a:rPr b="0" sz="1400">
                <a:solidFill>
                  <a:srgbClr val="475569"/>
                </a:solidFill>
              </a:rPr>
              <a:t>Underwriters must examine diverse unstructured files: KYC proofs, local tax returns (GST), profit &amp; loss statements, and multi-page bank records.</a:t>
            </a:r>
          </a:p>
          <a:p>
            <a:pPr>
              <a:spcAft>
                <a:spcPts val="1000"/>
              </a:spcAft>
              <a:defRPr b="1" sz="1600">
                <a:solidFill>
                  <a:srgbClr val="2563EB"/>
                </a:solidFill>
              </a:defRPr>
            </a:pPr>
            <a:r>
              <a:t>•  Risk &amp; Fraud Exposure: </a:t>
            </a:r>
            <a:r>
              <a:rPr b="0" sz="1400">
                <a:solidFill>
                  <a:srgbClr val="475569"/>
                </a:solidFill>
              </a:rPr>
              <a:t>Manual validation increases vulnerability to KYC inconsistencies, tax manipulation, and transactional anomalies.</a:t>
            </a:r>
          </a:p>
          <a:p>
            <a:pPr>
              <a:spcAft>
                <a:spcPts val="1000"/>
              </a:spcAft>
              <a:defRPr b="1" sz="1600">
                <a:solidFill>
                  <a:srgbClr val="2563EB"/>
                </a:solidFill>
              </a:defRPr>
            </a:pPr>
            <a:r>
              <a:t>•  High Cost &amp; Poor Scalability: </a:t>
            </a:r>
            <a:r>
              <a:rPr b="0" sz="1400">
                <a:solidFill>
                  <a:srgbClr val="475569"/>
                </a:solidFill>
              </a:rPr>
              <a:t>Operational overhead limits financial institutions from scaling credit access to small businesses efficiently.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B1D3A"/>
                </a:solidFill>
              </a:defRPr>
            </a:pPr>
            <a:r>
              <a:t>The Solution: Saarthi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600">
                <a:solidFill>
                  <a:srgbClr val="10B981"/>
                </a:solidFill>
              </a:defRPr>
            </a:pPr>
            <a:r>
              <a:t>✔  Agentic Automation: </a:t>
            </a:r>
            <a:r>
              <a:rPr b="0" sz="1400">
                <a:solidFill>
                  <a:srgbClr val="475569"/>
                </a:solidFill>
              </a:rPr>
              <a:t>Deploys 10 specialized AI agents working sequentially and in parallel to execute complex audits in seconds rather than days.</a:t>
            </a:r>
          </a:p>
          <a:p>
            <a:pPr>
              <a:spcAft>
                <a:spcPts val="1000"/>
              </a:spcAft>
              <a:defRPr b="1" sz="1600">
                <a:solidFill>
                  <a:srgbClr val="10B981"/>
                </a:solidFill>
              </a:defRPr>
            </a:pPr>
            <a:r>
              <a:t>✔  Custom ADK Orchestration: </a:t>
            </a:r>
            <a:r>
              <a:rPr b="0" sz="1400">
                <a:solidFill>
                  <a:srgbClr val="475569"/>
                </a:solidFill>
              </a:rPr>
              <a:t>Simulates Google's Agentic Development Kit (ADK) architecture model to structure decision gates and exception routing.</a:t>
            </a:r>
          </a:p>
          <a:p>
            <a:pPr>
              <a:spcAft>
                <a:spcPts val="1000"/>
              </a:spcAft>
              <a:defRPr b="1" sz="1600">
                <a:solidFill>
                  <a:srgbClr val="10B981"/>
                </a:solidFill>
              </a:defRPr>
            </a:pPr>
            <a:r>
              <a:t>✔  Human-in-the-Loop: </a:t>
            </a:r>
            <a:r>
              <a:rPr b="0" sz="1400">
                <a:solidFill>
                  <a:srgbClr val="475569"/>
                </a:solidFill>
              </a:rPr>
              <a:t>Keeps human underwriters in control with an interactive escalation dashboard, triggering flags only when risk parameters are crossed.</a:t>
            </a:r>
          </a:p>
          <a:p>
            <a:pPr>
              <a:spcAft>
                <a:spcPts val="1000"/>
              </a:spcAft>
              <a:defRPr b="1" sz="1600">
                <a:solidFill>
                  <a:srgbClr val="10B981"/>
                </a:solidFill>
              </a:defRPr>
            </a:pPr>
            <a:r>
              <a:t>✔  Instant Credit Recommendation: </a:t>
            </a:r>
            <a:r>
              <a:rPr b="0" sz="1400">
                <a:solidFill>
                  <a:srgbClr val="475569"/>
                </a:solidFill>
              </a:rPr>
              <a:t>Aggregates bank statements, GST filings, and business vintage metrics to output clear recommendations and interest rates.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B1D3A"/>
                </a:solidFill>
              </a:defRPr>
            </a:pPr>
            <a:r>
              <a:t>Multi-Agent Architecture (10 Specialists)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600">
                <a:solidFill>
                  <a:srgbClr val="2563EB"/>
                </a:solidFill>
              </a:defRPr>
            </a:pPr>
            <a:r>
              <a:t>Phase 1: Sequential Intake</a:t>
            </a:r>
          </a:p>
          <a:p>
            <a:pPr>
              <a:spcAft>
                <a:spcPts val="400"/>
              </a:spcAft>
              <a:defRPr sz="1200">
                <a:solidFill>
                  <a:srgbClr val="475569"/>
                </a:solidFill>
              </a:defRPr>
            </a:pPr>
            <a:r>
              <a:t>  - Intake Agent: Extracts basic fields and structures applicant profiles.</a:t>
            </a:r>
          </a:p>
          <a:p>
            <a:pPr>
              <a:spcAft>
                <a:spcPts val="400"/>
              </a:spcAft>
              <a:defRPr sz="1200">
                <a:solidFill>
                  <a:srgbClr val="475569"/>
                </a:solidFill>
              </a:defRPr>
            </a:pPr>
            <a:r>
              <a:t>  - Doc Intelligence: Audits KYC consistency (PAN/Aadhaar) and OCR flags.</a:t>
            </a:r>
          </a:p>
          <a:p>
            <a:br/>
            <a:pPr>
              <a:spcAft>
                <a:spcPts val="600"/>
              </a:spcAft>
              <a:defRPr b="1" sz="1600">
                <a:solidFill>
                  <a:srgbClr val="2563EB"/>
                </a:solidFill>
              </a:defRPr>
            </a:pPr>
            <a:r>
              <a:t>Phase 3: Decision &amp; Summary</a:t>
            </a:r>
          </a:p>
          <a:p>
            <a:pPr>
              <a:spcAft>
                <a:spcPts val="400"/>
              </a:spcAft>
              <a:defRPr sz="1200">
                <a:solidFill>
                  <a:srgbClr val="475569"/>
                </a:solidFill>
              </a:defRPr>
            </a:pPr>
            <a:r>
              <a:t>  - Credit Recommendation: Auto-calculates limit sizing &amp; rates.</a:t>
            </a:r>
          </a:p>
          <a:p>
            <a:pPr>
              <a:spcAft>
                <a:spcPts val="400"/>
              </a:spcAft>
              <a:defRPr sz="1200">
                <a:solidFill>
                  <a:srgbClr val="475569"/>
                </a:solidFill>
              </a:defRPr>
            </a:pPr>
            <a:r>
              <a:t>  - Compliance Auditor: Checks regulatory and sectoral lending rules.</a:t>
            </a:r>
          </a:p>
          <a:p>
            <a:pPr>
              <a:spcAft>
                <a:spcPts val="400"/>
              </a:spcAft>
              <a:defRPr sz="1200">
                <a:solidFill>
                  <a:srgbClr val="475569"/>
                </a:solidFill>
              </a:defRPr>
            </a:pPr>
            <a:r>
              <a:t>  - Communications Agent: Dispatches SMS/WhatsApp/Email notifications.</a:t>
            </a:r>
          </a:p>
          <a:p>
            <a:pPr>
              <a:spcAft>
                <a:spcPts val="400"/>
              </a:spcAft>
              <a:defRPr sz="1200">
                <a:solidFill>
                  <a:srgbClr val="475569"/>
                </a:solidFill>
              </a:defRPr>
            </a:pPr>
            <a:r>
              <a:t>  - Case Summary Orchestrator: Stitches output reports for humans.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600">
                <a:solidFill>
                  <a:srgbClr val="2563EB"/>
                </a:solidFill>
              </a:defRPr>
            </a:pPr>
            <a:r>
              <a:t>Phase 2: Parallel Analysis</a:t>
            </a:r>
          </a:p>
          <a:p>
            <a:pPr>
              <a:spcAft>
                <a:spcPts val="400"/>
              </a:spcAft>
              <a:defRPr sz="1200">
                <a:solidFill>
                  <a:srgbClr val="475569"/>
                </a:solidFill>
              </a:defRPr>
            </a:pPr>
            <a:r>
              <a:t>  - Financials Analyzer: Calculates DSCR, Net Profit, and growth metrics.</a:t>
            </a:r>
          </a:p>
          <a:p>
            <a:pPr>
              <a:spcAft>
                <a:spcPts val="400"/>
              </a:spcAft>
              <a:defRPr sz="1200">
                <a:solidFill>
                  <a:srgbClr val="475569"/>
                </a:solidFill>
              </a:defRPr>
            </a:pPr>
            <a:r>
              <a:t>  - GST Validator: Audits returns and validates business vintage.</a:t>
            </a:r>
          </a:p>
          <a:p>
            <a:pPr>
              <a:spcAft>
                <a:spcPts val="400"/>
              </a:spcAft>
              <a:defRPr sz="1200">
                <a:solidFill>
                  <a:srgbClr val="475569"/>
                </a:solidFill>
              </a:defRPr>
            </a:pPr>
            <a:r>
              <a:t>  - Bank Statement Analyzer: Detects cash-flow patterns and cheque bounces.</a:t>
            </a:r>
          </a:p>
          <a:p>
            <a:pPr>
              <a:spcAft>
                <a:spcPts val="400"/>
              </a:spcAft>
              <a:defRPr sz="1200">
                <a:solidFill>
                  <a:srgbClr val="475569"/>
                </a:solidFill>
              </a:defRPr>
            </a:pPr>
            <a:r>
              <a:t>  - Fraud &amp; Risk Evaluator: Screens identity against active blacklists.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B1D3A"/>
                </a:solidFill>
              </a:defRPr>
            </a:pPr>
            <a:r>
              <a:t>Technical Implementation &amp;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600">
                <a:solidFill>
                  <a:srgbClr val="0B1D3A"/>
                </a:solidFill>
              </a:defRPr>
            </a:pPr>
            <a:r>
              <a:t>💻  Frontend UI: </a:t>
            </a:r>
            <a:r>
              <a:rPr b="0" sz="1400">
                <a:solidFill>
                  <a:srgbClr val="475569"/>
                </a:solidFill>
              </a:rPr>
              <a:t>HTML5, Vanilla CSS3 (Custom design tokens, variables, transitions), and ES6+ JavaScript for client-side reactivity and components.</a:t>
            </a:r>
          </a:p>
          <a:p>
            <a:pPr>
              <a:spcAft>
                <a:spcPts val="1000"/>
              </a:spcAft>
              <a:defRPr b="1" sz="1600">
                <a:solidFill>
                  <a:srgbClr val="0B1D3A"/>
                </a:solidFill>
              </a:defRPr>
            </a:pPr>
            <a:r>
              <a:t>💻  ADK Simulation Engine: </a:t>
            </a:r>
            <a:r>
              <a:rPr b="0" sz="1400">
                <a:solidFill>
                  <a:srgbClr val="475569"/>
                </a:solidFill>
              </a:rPr>
              <a:t>Custom client-side event scheduler modeling Google ADK core containers, coordinating intake pipelines and exception routing.</a:t>
            </a:r>
          </a:p>
          <a:p>
            <a:pPr>
              <a:spcAft>
                <a:spcPts val="1000"/>
              </a:spcAft>
              <a:defRPr b="1" sz="1600">
                <a:solidFill>
                  <a:srgbClr val="0B1D3A"/>
                </a:solidFill>
              </a:defRPr>
            </a:pPr>
            <a:r>
              <a:t>💻  Quality &amp; Icons: </a:t>
            </a:r>
            <a:r>
              <a:rPr b="0" sz="1400">
                <a:solidFill>
                  <a:srgbClr val="475569"/>
                </a:solidFill>
              </a:rPr>
              <a:t>Google Fonts (Outfit, Inter, JetBrains Mono) for modern typography; Font Awesome for modern icon cues.</a:t>
            </a:r>
          </a:p>
          <a:p>
            <a:pPr>
              <a:spcAft>
                <a:spcPts val="1000"/>
              </a:spcAft>
              <a:defRPr b="1" sz="1600">
                <a:solidFill>
                  <a:srgbClr val="0B1D3A"/>
                </a:solidFill>
              </a:defRPr>
            </a:pPr>
            <a:r>
              <a:t>💻  QA &amp; Automation: </a:t>
            </a:r>
            <a:r>
              <a:rPr b="0" sz="1400">
                <a:solidFill>
                  <a:srgbClr val="475569"/>
                </a:solidFill>
              </a:rPr>
              <a:t>Playwright framework utilized to run end-to-end automated UI scripts, generating real-time browser action records, compiled to MP4 via FFmpeg.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B1D3A"/>
                </a:solidFill>
              </a:defRPr>
            </a:pPr>
            <a:r>
              <a:t>Business Impact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600">
                <a:solidFill>
                  <a:srgbClr val="2563EB"/>
                </a:solidFill>
              </a:defRPr>
            </a:pPr>
            <a:r>
              <a:t>🚀  90% Faster Approvals: </a:t>
            </a:r>
            <a:r>
              <a:rPr b="0" sz="1400">
                <a:solidFill>
                  <a:srgbClr val="475569"/>
                </a:solidFill>
              </a:rPr>
              <a:t>Reduces decision and underwriting turn-around time from days to under a minute.</a:t>
            </a:r>
          </a:p>
          <a:p>
            <a:pPr>
              <a:spcAft>
                <a:spcPts val="1000"/>
              </a:spcAft>
              <a:defRPr b="1" sz="1600">
                <a:solidFill>
                  <a:srgbClr val="2563EB"/>
                </a:solidFill>
              </a:defRPr>
            </a:pPr>
            <a:r>
              <a:t>🚀  Higher Quality Control: </a:t>
            </a:r>
            <a:r>
              <a:rPr b="0" sz="1400">
                <a:solidFill>
                  <a:srgbClr val="475569"/>
                </a:solidFill>
              </a:rPr>
              <a:t>Reduces human data-entry mistakes and omissions with automated cross-checking across different files.</a:t>
            </a:r>
          </a:p>
          <a:p>
            <a:pPr>
              <a:spcAft>
                <a:spcPts val="1000"/>
              </a:spcAft>
              <a:defRPr b="1" sz="1600">
                <a:solidFill>
                  <a:srgbClr val="2563EB"/>
                </a:solidFill>
              </a:defRPr>
            </a:pPr>
            <a:r>
              <a:t>🚀  Scalable Credit Expansion: </a:t>
            </a:r>
            <a:r>
              <a:rPr b="0" sz="1400">
                <a:solidFill>
                  <a:srgbClr val="475569"/>
                </a:solidFill>
              </a:rPr>
              <a:t>Allows financial institutions to evaluate and approve MSME applications at scale without linear headcount growth.</a:t>
            </a:r>
          </a:p>
          <a:p>
            <a:pPr>
              <a:spcAft>
                <a:spcPts val="1000"/>
              </a:spcAft>
              <a:defRPr b="1" sz="1600">
                <a:solidFill>
                  <a:srgbClr val="2563EB"/>
                </a:solidFill>
              </a:defRPr>
            </a:pPr>
            <a:r>
              <a:t>🚀  Roadmap Features: </a:t>
            </a:r>
            <a:r>
              <a:rPr b="0" sz="1400">
                <a:solidFill>
                  <a:srgbClr val="475569"/>
                </a:solidFill>
              </a:rPr>
              <a:t>Direct integration with government databases, OCR scanners for physical document uploads, and live bank statement API links.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defRPr sz="2000">
                <a:solidFill>
                  <a:srgbClr val="22D3EE"/>
                </a:solidFill>
              </a:defRPr>
            </a:pPr>
            <a:r>
              <a:t>Explore the project repository &amp; live code</a:t>
            </a:r>
          </a:p>
          <a:p>
            <a:pPr algn="ctr">
              <a:defRPr sz="1400">
                <a:solidFill>
                  <a:srgbClr val="CBD5E1"/>
                </a:solidFill>
              </a:defRPr>
            </a:pPr>
            <a:r>
              <a:t>GitHub: https://github.com/harsh7675879590/Saarthi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